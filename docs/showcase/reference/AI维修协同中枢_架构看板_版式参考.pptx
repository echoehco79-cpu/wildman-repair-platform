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710160" cy="6858000"/>
  <p:notesSz cx="6858000" cy="127101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10160" cy="6858000"/>
          </a:xfrm>
          <a:prstGeom prst="rect">
            <a:avLst/>
          </a:prstGeom>
          <a:solidFill>
            <a:srgbClr val="050705"/>
          </a:solidFill>
          <a:ln w="12700">
            <a:solidFill>
              <a:srgbClr val="05070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" y="19934"/>
            <a:ext cx="2331720" cy="279075"/>
          </a:xfrm>
          <a:prstGeom prst="roundRect">
            <a:avLst>
              <a:gd name="adj" fmla="val 16383"/>
            </a:avLst>
          </a:prstGeom>
          <a:solidFill>
            <a:srgbClr val="08130F"/>
          </a:solidFill>
          <a:ln w="12700">
            <a:solidFill>
              <a:srgbClr val="3F5E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用户接入层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8880" y="19934"/>
            <a:ext cx="4389120" cy="279075"/>
          </a:xfrm>
          <a:prstGeom prst="roundRect">
            <a:avLst>
              <a:gd name="adj" fmla="val 16383"/>
            </a:avLst>
          </a:prstGeom>
          <a:solidFill>
            <a:srgbClr val="111918"/>
          </a:solidFill>
          <a:ln w="12700">
            <a:solidFill>
              <a:srgbClr val="3F5E4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门店端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86200" y="39868"/>
            <a:ext cx="2423160" cy="219273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1F6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扫码报修 | 语音报修 | 拍照报修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178040" y="19934"/>
            <a:ext cx="4709160" cy="279075"/>
          </a:xfrm>
          <a:prstGeom prst="roundRect">
            <a:avLst>
              <a:gd name="adj" fmla="val 16383"/>
            </a:avLst>
          </a:prstGeom>
          <a:solidFill>
            <a:srgbClr val="111918"/>
          </a:solidFill>
          <a:ln w="12700">
            <a:solidFill>
              <a:srgbClr val="3F5E4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维修管理端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32520" y="39868"/>
            <a:ext cx="2057400" cy="219273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1F6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工作台 | 派单管理 | 超时监控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033504" y="0"/>
            <a:ext cx="347472" cy="41861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1A3D7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33504" y="488381"/>
            <a:ext cx="347472" cy="1245870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1A3D7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1000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</a:t>
            </a:r>
            <a:endParaRPr lang="zh-CN" altLang="en-US" sz="1000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033504" y="1813987"/>
            <a:ext cx="347472" cy="1395374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1A3D7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33504" y="3269163"/>
            <a:ext cx="347472" cy="1445209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1A3D7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altLang="zh-CN" sz="900" b="1" dirty="0">
                <a:solidFill>
                  <a:schemeClr val="bg1"/>
                </a:solidFill>
              </a:rPr>
              <a:t>ai</a:t>
            </a:r>
            <a:r>
              <a:rPr lang="zh-CN" altLang="en-US" sz="900" b="1" dirty="0">
                <a:solidFill>
                  <a:schemeClr val="bg1"/>
                </a:solidFill>
              </a:rPr>
              <a:t>自动审批程</a:t>
            </a:r>
            <a:endParaRPr lang="zh-CN" altLang="en-US" sz="9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33504" y="4774174"/>
            <a:ext cx="347472" cy="1614648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1A3D7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拆解</a:t>
            </a: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855" y="607060"/>
            <a:ext cx="11841480" cy="1067435"/>
          </a:xfrm>
          <a:prstGeom prst="roundRect">
            <a:avLst>
              <a:gd name="adj" fmla="val 5518"/>
            </a:avLst>
          </a:prstGeom>
          <a:solidFill>
            <a:srgbClr val="0B2A15"/>
          </a:solidFill>
          <a:ln w="16510">
            <a:solidFill>
              <a:srgbClr val="588F3A"/>
            </a:solidFill>
            <a:prstDash val="solid"/>
          </a:ln>
          <a:effectLst>
            <a:outerShdw blurRad="25400" dist="50800" dir="2700000" algn="bl" rotWithShape="0">
              <a:srgbClr val="234E2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9456" y="388711"/>
            <a:ext cx="11622024" cy="19933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BPM</a:t>
            </a: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能力层</a:t>
            </a:r>
            <a:endParaRPr lang="zh-CN" altLang="en-US" sz="12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7015" y="986780"/>
            <a:ext cx="457200" cy="219273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70000"/>
          </a:bodyPr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</a:t>
            </a:r>
            <a:endParaRPr lang="zh-CN" altLang="en-US" sz="11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9743" y="897077"/>
            <a:ext cx="1078992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</a:t>
            </a:r>
            <a:endParaRPr lang="zh-CN" altLang="en-US" sz="8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15311" y="897077"/>
            <a:ext cx="1188720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编辑</a:t>
            </a:r>
            <a:endParaRPr lang="zh-CN" altLang="en-US" sz="8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607" y="897077"/>
            <a:ext cx="457200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派单</a:t>
            </a:r>
            <a:endParaRPr lang="zh-CN" altLang="en-US" sz="8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34383" y="897077"/>
            <a:ext cx="987552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停用</a:t>
            </a:r>
            <a:endParaRPr lang="zh-CN" altLang="en-US" sz="8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58511" y="897077"/>
            <a:ext cx="960120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</a:t>
            </a:r>
            <a:endParaRPr lang="zh-CN" altLang="en-US" sz="8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55207" y="897077"/>
            <a:ext cx="502920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</a:t>
            </a:r>
            <a:endParaRPr lang="zh-CN" altLang="en-US" sz="8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94703" y="897077"/>
            <a:ext cx="969264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超时预警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00543" y="897077"/>
            <a:ext cx="1060704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SLA监控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97823" y="897077"/>
            <a:ext cx="603504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37903" y="897077"/>
            <a:ext cx="932688" cy="318943"/>
          </a:xfrm>
          <a:prstGeom prst="roundRect">
            <a:avLst>
              <a:gd name="adj" fmla="val 14335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……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5778" y="1385184"/>
            <a:ext cx="457200" cy="219273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70000"/>
          </a:bodyPr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zh-CN" altLang="en-US" sz="11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490218" y="1255613"/>
            <a:ext cx="1097280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</a:t>
            </a: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zh-CN" altLang="en-US" sz="7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24074" y="1255613"/>
            <a:ext cx="749808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</a:t>
            </a: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zh-CN" altLang="en-US" sz="7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410458" y="1255613"/>
            <a:ext cx="1033272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</a:t>
            </a: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zh-CN" altLang="en-US" sz="7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80306" y="1255613"/>
            <a:ext cx="1051560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zh-CN" altLang="en-US" sz="7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68442" y="1255613"/>
            <a:ext cx="1051560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</a:t>
            </a:r>
            <a:endParaRPr lang="zh-CN" altLang="en-US" sz="7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56578" y="1255613"/>
            <a:ext cx="1042416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</a:t>
            </a:r>
            <a:r>
              <a:rPr lang="zh-CN" alt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</a:t>
            </a:r>
            <a:endParaRPr lang="zh-CN" altLang="en-US" sz="7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35570" y="1255613"/>
            <a:ext cx="1078992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工单追溯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851138" y="1255613"/>
            <a:ext cx="512064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399778" y="1255613"/>
            <a:ext cx="384048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820402" y="1255613"/>
            <a:ext cx="548640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计划类型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405618" y="1255613"/>
            <a:ext cx="548640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工段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任务类型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990834" y="1255613"/>
            <a:ext cx="548640" cy="338877"/>
          </a:xfrm>
          <a:prstGeom prst="roundRect">
            <a:avLst>
              <a:gd name="adj" fmla="val 1349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批次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任务类型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9728" y="1754185"/>
            <a:ext cx="11841480" cy="727588"/>
          </a:xfrm>
          <a:prstGeom prst="roundRect">
            <a:avLst>
              <a:gd name="adj" fmla="val 10054"/>
            </a:avLst>
          </a:prstGeom>
          <a:solidFill>
            <a:srgbClr val="0B2A15"/>
          </a:solidFill>
          <a:ln w="16510">
            <a:solidFill>
              <a:srgbClr val="588F3A"/>
            </a:solidFill>
            <a:prstDash val="solid"/>
          </a:ln>
          <a:effectLst>
            <a:outerShdw blurRad="25400" dist="50800" dir="2700000" algn="bl" rotWithShape="0">
              <a:srgbClr val="234E2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19456" y="1794053"/>
            <a:ext cx="11622024" cy="19933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业务流</a:t>
            </a: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12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65176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编辑器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52728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开始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240280" y="2093062"/>
            <a:ext cx="960120" cy="308976"/>
          </a:xfrm>
          <a:prstGeom prst="roundRect">
            <a:avLst>
              <a:gd name="adj" fmla="val 14797"/>
            </a:avLst>
          </a:prstGeom>
          <a:solidFill>
            <a:srgbClr val="DCE242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1C22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</a:t>
            </a:r>
            <a:r>
              <a:rPr lang="zh-CN" altLang="en-US" sz="900" b="1" dirty="0">
                <a:solidFill>
                  <a:srgbClr val="1C22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</a:t>
            </a:r>
            <a:endParaRPr lang="zh-CN" altLang="en-US" sz="900" b="1" dirty="0">
              <a:solidFill>
                <a:srgbClr val="1C22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273552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261104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任务分配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48656" y="2093062"/>
            <a:ext cx="960120" cy="308976"/>
          </a:xfrm>
          <a:prstGeom prst="roundRect">
            <a:avLst>
              <a:gd name="adj" fmla="val 14797"/>
            </a:avLst>
          </a:prstGeom>
          <a:solidFill>
            <a:srgbClr val="DCE242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1C22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子流程</a:t>
            </a:r>
            <a:endParaRPr lang="zh-CN" altLang="en-US" sz="900" b="1" dirty="0">
              <a:solidFill>
                <a:srgbClr val="1C22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81928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结束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269480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流转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57032" y="209306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44584" y="2093062"/>
            <a:ext cx="11430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SLA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460736" y="2093062"/>
            <a:ext cx="941832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提醒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9728" y="3487918"/>
            <a:ext cx="11841480" cy="1265804"/>
          </a:xfrm>
          <a:prstGeom prst="roundRect">
            <a:avLst>
              <a:gd name="adj" fmla="val 5779"/>
            </a:avLst>
          </a:prstGeom>
          <a:solidFill>
            <a:srgbClr val="0B2A15"/>
          </a:solidFill>
          <a:ln w="16510">
            <a:solidFill>
              <a:srgbClr val="588F3A"/>
            </a:solidFill>
            <a:prstDash val="solid"/>
          </a:ln>
          <a:effectLst>
            <a:outerShdw blurRad="25400" dist="50800" dir="2700000" algn="bl" rotWithShape="0">
              <a:srgbClr val="234E2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19456" y="3527786"/>
            <a:ext cx="11622024" cy="19933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工单流转</a:t>
            </a:r>
            <a:endParaRPr lang="zh-CN" altLang="en-US" sz="12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84048" y="3826794"/>
            <a:ext cx="731520" cy="29900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</a:t>
            </a: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zh-CN" altLang="en-US" sz="11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435608" y="3816828"/>
            <a:ext cx="1234440" cy="299009"/>
          </a:xfrm>
          <a:prstGeom prst="roundRect">
            <a:avLst>
              <a:gd name="adj" fmla="val 15291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</a:t>
            </a:r>
            <a:r>
              <a:rPr lang="zh-CN" altLang="en-US" sz="8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zh-CN" altLang="en-US" sz="8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017520" y="3816828"/>
            <a:ext cx="1353312" cy="299009"/>
          </a:xfrm>
          <a:prstGeom prst="roundRect">
            <a:avLst>
              <a:gd name="adj" fmla="val 15291"/>
            </a:avLst>
          </a:prstGeom>
          <a:solidFill>
            <a:srgbClr val="151917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责任人配置</a:t>
            </a:r>
            <a:endParaRPr lang="zh-CN" altLang="en-US" sz="85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718304" y="3816828"/>
            <a:ext cx="1353312" cy="299009"/>
          </a:xfrm>
          <a:prstGeom prst="roundRect">
            <a:avLst>
              <a:gd name="adj" fmla="val 15291"/>
            </a:avLst>
          </a:prstGeom>
          <a:solidFill>
            <a:srgbClr val="151917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抄送配置</a:t>
            </a:r>
            <a:endParaRPr lang="zh-CN" altLang="en-US" sz="8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419088" y="3816828"/>
            <a:ext cx="1353312" cy="299009"/>
          </a:xfrm>
          <a:prstGeom prst="roundRect">
            <a:avLst>
              <a:gd name="adj" fmla="val 15291"/>
            </a:avLst>
          </a:prstGeom>
          <a:solidFill>
            <a:srgbClr val="151917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处理节点</a:t>
            </a:r>
            <a:endParaRPr lang="zh-CN" altLang="en-US" sz="8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119872" y="3816828"/>
            <a:ext cx="1353312" cy="299009"/>
          </a:xfrm>
          <a:prstGeom prst="roundRect">
            <a:avLst>
              <a:gd name="adj" fmla="val 15291"/>
            </a:avLst>
          </a:prstGeom>
          <a:solidFill>
            <a:srgbClr val="151917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处理策略</a:t>
            </a:r>
            <a:endParaRPr lang="zh-CN" altLang="en-US" sz="8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820656" y="3816828"/>
            <a:ext cx="1353312" cy="299009"/>
          </a:xfrm>
          <a:prstGeom prst="roundRect">
            <a:avLst>
              <a:gd name="adj" fmla="val 15291"/>
            </a:avLst>
          </a:prstGeom>
          <a:solidFill>
            <a:srgbClr val="151917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B50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……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46888" y="4225473"/>
            <a:ext cx="2788920" cy="358811"/>
          </a:xfrm>
          <a:prstGeom prst="roundRect">
            <a:avLst>
              <a:gd name="adj" fmla="val 1274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任务自动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办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264408" y="4225473"/>
            <a:ext cx="2788920" cy="358811"/>
          </a:xfrm>
          <a:prstGeom prst="roundRect">
            <a:avLst>
              <a:gd name="adj" fmla="val 1274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任务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自动转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签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281928" y="4225473"/>
            <a:ext cx="2788920" cy="358811"/>
          </a:xfrm>
          <a:prstGeom prst="roundRect">
            <a:avLst>
              <a:gd name="adj" fmla="val 1274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任务自动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退回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299575" y="4225290"/>
            <a:ext cx="2545715" cy="358775"/>
          </a:xfrm>
          <a:prstGeom prst="roundRect">
            <a:avLst>
              <a:gd name="adj" fmla="val 12742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任务自动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审批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09855" y="4864100"/>
            <a:ext cx="11841480" cy="1395095"/>
          </a:xfrm>
          <a:prstGeom prst="roundRect">
            <a:avLst>
              <a:gd name="adj" fmla="val 3033"/>
            </a:avLst>
          </a:prstGeom>
          <a:solidFill>
            <a:srgbClr val="0B2A15"/>
          </a:solidFill>
          <a:ln w="16510">
            <a:solidFill>
              <a:srgbClr val="588F3A"/>
            </a:solidFill>
            <a:prstDash val="solid"/>
          </a:ln>
          <a:effectLst>
            <a:outerShdw blurRad="25400" dist="50800" dir="2700000" algn="bl" rotWithShape="0">
              <a:srgbClr val="234E2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92151" y="4889144"/>
            <a:ext cx="11622024" cy="19933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流程支持</a:t>
            </a: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</a:t>
            </a:r>
            <a:endParaRPr lang="zh-CN" altLang="en-US" sz="12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83210" y="5088367"/>
            <a:ext cx="384048" cy="47841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endParaRPr lang="en-US" sz="1100" dirty="0"/>
          </a:p>
          <a:p>
            <a:pPr marL="0" indent="0" algn="ctr">
              <a:buNone/>
            </a:pP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编排</a:t>
            </a:r>
            <a:endParaRPr lang="zh-CN" altLang="en-US" sz="11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83210" y="5676946"/>
            <a:ext cx="384048" cy="47841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</a:t>
            </a:r>
            <a:endParaRPr lang="zh-CN" altLang="en-US" sz="11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41578" y="5088367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报修-工单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867658" y="5088367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工单-任务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702298" y="5088367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任务-子任务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582658" y="5088367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任务依赖关系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218434" y="5337541"/>
            <a:ext cx="374904" cy="0"/>
          </a:xfrm>
          <a:prstGeom prst="line">
            <a:avLst/>
          </a:prstGeom>
          <a:noFill/>
          <a:ln w="17780">
            <a:solidFill>
              <a:srgbClr val="8FA6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6098794" y="5337541"/>
            <a:ext cx="374904" cy="0"/>
          </a:xfrm>
          <a:prstGeom prst="line">
            <a:avLst/>
          </a:prstGeom>
          <a:noFill/>
          <a:ln w="17780">
            <a:solidFill>
              <a:srgbClr val="8FA6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8979154" y="5337541"/>
            <a:ext cx="374904" cy="0"/>
          </a:xfrm>
          <a:prstGeom prst="line">
            <a:avLst/>
          </a:prstGeom>
          <a:noFill/>
          <a:ln w="17780">
            <a:solidFill>
              <a:srgbClr val="8FA6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941578" y="5676946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3867658" y="5676946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793738" y="5676946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问题反馈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3218434" y="5926120"/>
            <a:ext cx="374904" cy="0"/>
          </a:xfrm>
          <a:prstGeom prst="line">
            <a:avLst/>
          </a:prstGeom>
          <a:noFill/>
          <a:ln w="17780">
            <a:solidFill>
              <a:srgbClr val="8FA6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6144514" y="5926120"/>
            <a:ext cx="374904" cy="0"/>
          </a:xfrm>
          <a:prstGeom prst="line">
            <a:avLst/>
          </a:prstGeom>
          <a:noFill/>
          <a:ln w="17780">
            <a:solidFill>
              <a:srgbClr val="8FA6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09728" y="6319053"/>
            <a:ext cx="11841480" cy="498348"/>
          </a:xfrm>
          <a:prstGeom prst="rect">
            <a:avLst/>
          </a:prstGeom>
          <a:solidFill>
            <a:srgbClr val="070707"/>
          </a:solidFill>
          <a:ln w="12700">
            <a:solidFill>
              <a:srgbClr val="588F3A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256032" y="6408755"/>
            <a:ext cx="960120" cy="2790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业务系统</a:t>
            </a:r>
            <a:r>
              <a:rPr lang="zh-CN" altLang="en-US" sz="11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</a:t>
            </a:r>
            <a:endParaRPr lang="zh-CN" altLang="en-US" sz="11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252855" y="6409055"/>
            <a:ext cx="2137410" cy="309245"/>
          </a:xfrm>
          <a:prstGeom prst="roundRect">
            <a:avLst>
              <a:gd name="adj" fmla="val 14797"/>
            </a:avLst>
          </a:prstGeom>
          <a:solidFill>
            <a:srgbClr val="171717"/>
          </a:solidFill>
          <a:ln w="12700">
            <a:solidFill>
              <a:srgbClr val="2B2B2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设备管理</a:t>
            </a:r>
            <a:endParaRPr 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5605145" y="6409055"/>
            <a:ext cx="2095500" cy="309245"/>
          </a:xfrm>
          <a:prstGeom prst="roundRect">
            <a:avLst>
              <a:gd name="adj" fmla="val 14797"/>
            </a:avLst>
          </a:prstGeom>
          <a:solidFill>
            <a:srgbClr val="171717"/>
          </a:solidFill>
          <a:ln w="12700">
            <a:solidFill>
              <a:srgbClr val="2B2B2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供应商管理</a:t>
            </a:r>
            <a:endParaRPr 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7771765" y="6409055"/>
            <a:ext cx="1893570" cy="309245"/>
          </a:xfrm>
          <a:prstGeom prst="roundRect">
            <a:avLst>
              <a:gd name="adj" fmla="val 14797"/>
            </a:avLst>
          </a:prstGeom>
          <a:solidFill>
            <a:srgbClr val="171717"/>
          </a:solidFill>
          <a:ln w="12700">
            <a:solidFill>
              <a:srgbClr val="2B2B2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</a:t>
            </a:r>
            <a:endParaRPr 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9756775" y="6409055"/>
            <a:ext cx="2057400" cy="309245"/>
          </a:xfrm>
          <a:prstGeom prst="roundRect">
            <a:avLst>
              <a:gd name="adj" fmla="val 14797"/>
            </a:avLst>
          </a:prstGeom>
          <a:solidFill>
            <a:srgbClr val="171717"/>
          </a:solidFill>
          <a:ln w="12700">
            <a:solidFill>
              <a:srgbClr val="2B2B2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OA</a:t>
            </a:r>
            <a:endParaRPr 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6" name="Text 95"/>
          <p:cNvSpPr/>
          <p:nvPr/>
        </p:nvSpPr>
        <p:spPr>
          <a:xfrm>
            <a:off x="3447415" y="6409055"/>
            <a:ext cx="2096135" cy="309245"/>
          </a:xfrm>
          <a:prstGeom prst="roundRect">
            <a:avLst>
              <a:gd name="adj" fmla="val 14797"/>
            </a:avLst>
          </a:prstGeom>
          <a:solidFill>
            <a:srgbClr val="171717"/>
          </a:solidFill>
          <a:ln w="12700">
            <a:solidFill>
              <a:srgbClr val="2B2B2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工单系统</a:t>
            </a:r>
            <a:endParaRPr 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7" name="Shape 39"/>
          <p:cNvSpPr/>
          <p:nvPr/>
        </p:nvSpPr>
        <p:spPr>
          <a:xfrm>
            <a:off x="91313" y="2608895"/>
            <a:ext cx="11841480" cy="727588"/>
          </a:xfrm>
          <a:prstGeom prst="roundRect">
            <a:avLst>
              <a:gd name="adj" fmla="val 10054"/>
            </a:avLst>
          </a:prstGeom>
          <a:solidFill>
            <a:srgbClr val="0B2A15"/>
          </a:solidFill>
          <a:ln w="16510">
            <a:solidFill>
              <a:srgbClr val="588F3A"/>
            </a:solidFill>
            <a:prstDash val="solid"/>
          </a:ln>
          <a:effectLst>
            <a:outerShdw blurRad="25400" dist="50800" dir="2700000" algn="bl" rotWithShape="0">
              <a:srgbClr val="234E2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8" name="Text 40"/>
          <p:cNvSpPr/>
          <p:nvPr/>
        </p:nvSpPr>
        <p:spPr>
          <a:xfrm>
            <a:off x="201041" y="2648763"/>
            <a:ext cx="11622024" cy="19933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单据</a:t>
            </a: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12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9" name="Text 41"/>
          <p:cNvSpPr/>
          <p:nvPr/>
        </p:nvSpPr>
        <p:spPr>
          <a:xfrm>
            <a:off x="246761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表单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模版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0" name="Text 42"/>
          <p:cNvSpPr/>
          <p:nvPr/>
        </p:nvSpPr>
        <p:spPr>
          <a:xfrm>
            <a:off x="1234313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布局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1" name="Text 43"/>
          <p:cNvSpPr/>
          <p:nvPr/>
        </p:nvSpPr>
        <p:spPr>
          <a:xfrm>
            <a:off x="2221865" y="2947772"/>
            <a:ext cx="960120" cy="308976"/>
          </a:xfrm>
          <a:prstGeom prst="roundRect">
            <a:avLst>
              <a:gd name="adj" fmla="val 14797"/>
            </a:avLst>
          </a:prstGeom>
          <a:solidFill>
            <a:srgbClr val="DCE242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900" b="1" dirty="0">
                <a:solidFill>
                  <a:srgbClr val="1C22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组件库</a:t>
            </a:r>
            <a:endParaRPr lang="zh-CN" altLang="en-US" sz="900" b="1" dirty="0">
              <a:solidFill>
                <a:srgbClr val="1C22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2" name="Text 44"/>
          <p:cNvSpPr/>
          <p:nvPr/>
        </p:nvSpPr>
        <p:spPr>
          <a:xfrm>
            <a:off x="3255137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表单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预览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3" name="Text 45"/>
          <p:cNvSpPr/>
          <p:nvPr/>
        </p:nvSpPr>
        <p:spPr>
          <a:xfrm>
            <a:off x="4242689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表单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4" name="Text 46"/>
          <p:cNvSpPr/>
          <p:nvPr/>
        </p:nvSpPr>
        <p:spPr>
          <a:xfrm>
            <a:off x="5230241" y="2947772"/>
            <a:ext cx="960120" cy="308976"/>
          </a:xfrm>
          <a:prstGeom prst="roundRect">
            <a:avLst>
              <a:gd name="adj" fmla="val 14797"/>
            </a:avLst>
          </a:prstGeom>
          <a:solidFill>
            <a:srgbClr val="DCE242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1C22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模版</a:t>
            </a:r>
            <a:r>
              <a:rPr lang="zh-CN" altLang="en-US" sz="900" b="1" dirty="0">
                <a:solidFill>
                  <a:srgbClr val="1C22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导入</a:t>
            </a:r>
            <a:endParaRPr lang="zh-CN" altLang="en-US" sz="900" b="1" dirty="0">
              <a:solidFill>
                <a:srgbClr val="1C22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5" name="Text 47"/>
          <p:cNvSpPr/>
          <p:nvPr/>
        </p:nvSpPr>
        <p:spPr>
          <a:xfrm>
            <a:off x="6263513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6" name="Text 48"/>
          <p:cNvSpPr/>
          <p:nvPr/>
        </p:nvSpPr>
        <p:spPr>
          <a:xfrm>
            <a:off x="7251065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7" name="Text 49"/>
          <p:cNvSpPr/>
          <p:nvPr/>
        </p:nvSpPr>
        <p:spPr>
          <a:xfrm>
            <a:off x="8238617" y="2947772"/>
            <a:ext cx="9144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联动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8" name="Text 50"/>
          <p:cNvSpPr/>
          <p:nvPr/>
        </p:nvSpPr>
        <p:spPr>
          <a:xfrm>
            <a:off x="9226169" y="2947772"/>
            <a:ext cx="1143000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9" name="Text 51"/>
          <p:cNvSpPr/>
          <p:nvPr/>
        </p:nvSpPr>
        <p:spPr>
          <a:xfrm>
            <a:off x="10442321" y="2947772"/>
            <a:ext cx="941832" cy="308976"/>
          </a:xfrm>
          <a:prstGeom prst="roundRect">
            <a:avLst>
              <a:gd name="adj" fmla="val 14797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r>
              <a:rPr lang="zh-CN" altLang="en-US" sz="9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</a:t>
            </a:r>
            <a:endParaRPr lang="zh-CN" altLang="en-US" sz="9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0" name="Text 40"/>
          <p:cNvSpPr/>
          <p:nvPr/>
        </p:nvSpPr>
        <p:spPr>
          <a:xfrm>
            <a:off x="201041" y="647878"/>
            <a:ext cx="11622024" cy="199339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业务流</a:t>
            </a:r>
            <a:r>
              <a:rPr lang="zh-CN" altLang="en-US" sz="12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</a:t>
            </a:r>
            <a:endParaRPr lang="zh-CN" altLang="en-US" sz="12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1" name="Shape 92"/>
          <p:cNvSpPr/>
          <p:nvPr/>
        </p:nvSpPr>
        <p:spPr>
          <a:xfrm>
            <a:off x="8998204" y="5926120"/>
            <a:ext cx="374904" cy="0"/>
          </a:xfrm>
          <a:prstGeom prst="line">
            <a:avLst/>
          </a:prstGeom>
          <a:noFill/>
          <a:ln w="17780">
            <a:solidFill>
              <a:srgbClr val="8FA67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2" name="Text 90"/>
          <p:cNvSpPr/>
          <p:nvPr/>
        </p:nvSpPr>
        <p:spPr>
          <a:xfrm>
            <a:off x="9582658" y="5676946"/>
            <a:ext cx="2148840" cy="498348"/>
          </a:xfrm>
          <a:prstGeom prst="roundRect">
            <a:avLst>
              <a:gd name="adj" fmla="val 9174"/>
            </a:avLst>
          </a:prstGeom>
          <a:solidFill>
            <a:srgbClr val="0A2111"/>
          </a:solidFill>
          <a:ln w="12700">
            <a:solidFill>
              <a:srgbClr val="335E3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日志分析与</a:t>
            </a:r>
            <a:r>
              <a:rPr lang="zh-CN" altLang="en-US" sz="1000" b="1" dirty="0">
                <a:solidFill>
                  <a:srgbClr val="F1F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持续优化</a:t>
            </a:r>
            <a:endParaRPr lang="zh-CN" altLang="en-US" sz="1000" b="1" dirty="0">
              <a:solidFill>
                <a:srgbClr val="F1F6E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WPS 演示</Application>
  <PresentationFormat>On-screen Show (16:9)</PresentationFormat>
  <Paragraphs>187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等线</vt:lpstr>
      <vt:lpstr>Arial Unicode MS</vt:lpstr>
      <vt:lpstr>Calibri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BPM流程看板</dc:title>
  <dc:creator>OpenAI</dc:creator>
  <dc:subject>BPM流程看板复刻</dc:subject>
  <cp:lastModifiedBy>稳稳喷泉战士</cp:lastModifiedBy>
  <cp:revision>4</cp:revision>
  <dcterms:created xsi:type="dcterms:W3CDTF">2026-07-07T13:11:00Z</dcterms:created>
  <dcterms:modified xsi:type="dcterms:W3CDTF">2026-07-19T10:17:13Z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66A40D03AA2347EFA7B678D703040A28_13</vt:lpwstr>
  </property>
</Properties>
</file>